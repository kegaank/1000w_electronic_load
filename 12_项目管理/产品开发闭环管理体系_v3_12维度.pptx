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产品开发闭环管理体系 v3.0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C518"/>
                </a:solidFill>
                <a:latin typeface="Microsoft YaHei"/>
              </a:defRPr>
            </a:pPr>
            <a:r>
              <a:t>12维度 · 全方位覆盖 · 从市场到客户的全闭环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Microsoft YaHei"/>
              </a:defRPr>
            </a:pPr>
            <a:r>
              <a:t>市场调研 → 产品定义 → 系统设计 → 外观结构设计 → 硬件研发 → 软件研发</a:t>
            </a:r>
            <a:br/>
            <a:r>
              <a:t>      → 测试验证 → 供应链 → 推广运营 → 销售渠道 → 客户成功 → 项目管理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A0"/>
                </a:solidFill>
                <a:latin typeface="Microsoft YaHei"/>
              </a:defRPr>
            </a:pPr>
            <a:r>
              <a:t>2026年5月  |  内部框架文档  |  v3.0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389120"/>
            <a:ext cx="4572000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C79A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852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管理维度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C79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852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新增维度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C79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852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迭代回路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5303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6C79A"/>
                </a:solidFill>
                <a:latin typeface="Microsoft YaHei"/>
              </a:defRPr>
            </a:pPr>
            <a:r>
              <a:t>16月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58521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产品周期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6400800"/>
            <a:ext cx="4114800" cy="365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E056A0"/>
                </a:solidFill>
                <a:latin typeface="Microsoft YaHei"/>
              </a:defRPr>
            </a:pPr>
            <a:r>
              <a:t>v3.0 更新: 新增 "03 系统设计" + "04 外观与结构设计" 两个关键工程维度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全景框架：12维度闭环管理体系</a:t>
            </a:r>
          </a:p>
        </p:txBody>
      </p:sp>
      <p:pic>
        <p:nvPicPr>
          <p:cNvPr id="3" name="Picture 2" descr="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1170432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v1.0 → v2.0 → v3.0：框架演进的逻辑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v1.0 (10维度) — 基础版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市场调研 → 产品定义 → 项目管理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→ 硬件/软件研发 → 测试 → 供应链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→ 推广 → 销售 → 客户成功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问题: 缺少架构层和工程设计层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188720"/>
            <a:ext cx="34747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E056A0"/>
                </a:solidFill>
                <a:latin typeface="Microsoft YaHei"/>
              </a:defRPr>
            </a:pPr>
            <a:r>
              <a:t>v2.0 (11维度) — 增加系统设计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在"产品定义"与"研发"之间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插入"系统设计"架构翻译层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减少返工、沉淀技术文档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仍缺: 产品的外观/结构工程设计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188720"/>
            <a:ext cx="347472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16C79A"/>
                </a:solidFill>
                <a:latin typeface="Microsoft YaHei"/>
              </a:defRPr>
            </a:pPr>
            <a:r>
              <a:t>v3.0 (12维度) ★ 当前版本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新增"外观与结构设计"维度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涵盖ID工业设计 + MD结构设计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衔接市场调研的外观偏好数据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完整覆盖从概念到量产的全链路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5486400" cy="3291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为什么外观与结构设计是独立维度？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① 客户第一感观: 产品长什么样？手感如何？放在桌面上协调吗？—— 这些直接决定购买决策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② 工程落地的物理载体: 再好的电路设计，没有合理的结构支撑，散热、EMC、装配全是问题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③ 与市场调研的双向联动: 市场调研阶段就应收集目标用户对外观/尺寸/材质的偏好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④ 与系统设计的紧密耦合: 系统布局决定结构方案，结构方案反过来约束PCB形状和散热路径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⑤ 制造业的硬门槛: 外观结构方案直接影响模具成本、装配工艺、可量产性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⑥ 品牌识别资产: 好的工业设计让产品在货架上一眼被认出，形成品牌记忆点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91840"/>
            <a:ext cx="5303520" cy="32918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1ABC9C"/>
                </a:solidFill>
                <a:latin typeface="Microsoft YaHei"/>
              </a:defRPr>
            </a:pPr>
            <a:r>
              <a:t>1000W电子负载的外观结构设计要点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工业设计 (ID):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• 桌面式/便携式？目标用户放在哪里用？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• 前面板: 4.3寸触摸屏 + 旋转编码器 + 接线柱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• 后面板: 电源输入 + USB/Wi-Fi天线 + 风扇出风口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• 配色: 深灰主色调 + 橙色点缀 (专业感+识别度)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结构设计 (MD):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• 铝合金型材框架 + 钢板外壳 = 散热+强度+成本平衡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• 风道: 底部进风 → 穿过散热器 → 后部120mm风扇排出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• 内部布局: 功率板(下方) / 控制板(上方) / 电源(隔离)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• 目标: 整机重量&lt;4kg, 尺寸&lt;W250×D300×H100mm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外观与结构设计详解：从市场调研到工程落地</a:t>
            </a:r>
          </a:p>
        </p:txBody>
      </p:sp>
      <p:pic>
        <p:nvPicPr>
          <p:cNvPr id="3" name="Picture 2" descr="id_mechan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04320" cy="502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6035040"/>
            <a:ext cx="1097280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关键认知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外观与结构设计不是"画个壳子"——它是连接用户感知(市场调研)与工程实现(系统设计/硬件研发)的物理桥梁。好的ID+MD让产品"看起来专业、用起来顺手、造起来不贵"。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12维度详解（一）：01 市场调研 ~ 06 软件研发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566160" cy="2651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01 市场调研与需求洞察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用户深度访谈(≥10人)，了解真实痛点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竞品拆解测试(3-5款)建立性能基线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★ 外观偏好调研: 目标用户对产品造型/尺寸/配色/材质的偏好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输出: 市场需求文档(MRD) + 外观偏好报告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005840"/>
            <a:ext cx="3566160" cy="2651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02 产品定义与概念设计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将用户需求翻译为产品规格(SRD)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功能优先级: P0必做/P1该做/P2锦上添花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★ ID设计方向: 基于市场调研确定产品视觉语言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输出: PRD + 规格书 + ID设计Brief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005840"/>
            <a:ext cx="3566160" cy="2651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E056A0"/>
                </a:solidFill>
                <a:latin typeface="Microsoft YaHei"/>
              </a:defRPr>
            </a:pPr>
            <a:r>
              <a:t>03 系统设计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系统架构: 整机框图、模块划分、接口定义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功率/热设计: 拓扑选型、散热仿真、降额策略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控制/信号链: PID参数、ADC精度预算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通信/电源树/安全: 协议栈+FMEA分析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3566160" cy="2651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04 外观与结构设计 ★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ID: 造型/CMF/人机工程/品牌识别 → 效果图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MD: 机箱结构/风道/PCB固定/面板布局 → 3D+2D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与市场调研双向联动: 外观概念→用户验证→迭代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输出: 外观效果图 + 3D模型(STEP) + 2D工程图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566160" cy="2651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00A8CC"/>
                </a:solidFill>
                <a:latin typeface="Microsoft YaHei"/>
              </a:defRPr>
            </a:pPr>
            <a:r>
              <a:t>05 硬件研发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原理图设计 → PCB布局 → BOM物料清单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配合结构设计: PCB外形/安装孔/限高区域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热设计验证: 实际测试散热效果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EMC/安规: 前期预留裕度，避免后期整改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840480"/>
            <a:ext cx="3566160" cy="2651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7B68EE"/>
                </a:solidFill>
                <a:latin typeface="Microsoft YaHei"/>
              </a:defRPr>
            </a:pPr>
            <a:r>
              <a:t>06 软件研发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固件: 控制算法(PID)、通信协议(Modbus/SCPI)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上位机: Web UI(React) + Python CLI工具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面板UI: 触摸屏界面设计与结构面板配合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云端: 数据记录、远程监控、OTA推送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12维度详解（二）：07 测试验证 ~ 12 项目管理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566160" cy="2651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16C79A"/>
                </a:solidFill>
                <a:latin typeface="Microsoft YaHei"/>
              </a:defRPr>
            </a:pPr>
            <a:r>
              <a:t>07 测试验证与质量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功能测试: CC/CV/CP/CR全模式覆盖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精度校准: 与6½位万用表比对出具校准报告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结构验证: 跌落/振动/高低温/防护等级测试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Beta测试: 5-10位种子用户真实场景试用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005840"/>
            <a:ext cx="3566160" cy="2651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1ABC9C"/>
                </a:solidFill>
                <a:latin typeface="Microsoft YaHei"/>
              </a:defRPr>
            </a:pPr>
            <a:r>
              <a:t>08 供应链与生产制造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PCB供应商: 嘉立创/华秋(打样快/小批量友好)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结构件: 钣金/型材/注塑供应商开发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元器件采购: 立创商城+得捷/Mouser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组装: 自己跑通首批50台→再找代工厂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005840"/>
            <a:ext cx="3566160" cy="2651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5C518"/>
                </a:solidFill>
                <a:latin typeface="Microsoft YaHei"/>
              </a:defRPr>
            </a:pPr>
            <a:r>
              <a:t>09 市场推广与运营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内容营销: 技术博客、B站拆解视频、知乎干货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★ 外观是第一传播素材: 产品美图/视频先于功能传播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社区运营: GitHub开源社区+微信群/QQ群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KOL合作: 电子工程UP主测评→外观和功能并重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3566160" cy="2651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10 销售与渠道管理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线上直销: 淘宝/京东店铺+小程序商城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跨境平台: AliExpress/Amazon/Tindie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★ 外观直接影响转化率: 产品图是电商第一竞争力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售后: 1年质保、7天无理由、48h技术支持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3566160" cy="2651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11 客户成功与迭代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反馈入口: GitHub Issues+用户群+电商评价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★ 外观反馈: 用户对质感/做工/细节的满意度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版本节奏: 固件每2-4周OTA/硬件每6-12月迭代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闭环回流: 高频需求→PRD→下一代产品规划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840480"/>
            <a:ext cx="3566160" cy="26517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╔══ 12 项目管理(贯穿全程) ══╗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里程碑: M0立项→M1SDR→M2 ID冻结→M3原型→M4量产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资源: 人力/预算/时间三要素平衡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风险: 识别→评估→应对→追踪(含ID/结构风险)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工具: Linear/飞书多维表格/甘特图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核心流程 &amp; 项目时间线</a:t>
            </a:r>
          </a:p>
        </p:txBody>
      </p:sp>
      <p:pic>
        <p:nvPicPr>
          <p:cNvPr id="3" name="Picture 2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430000" cy="2926080"/>
          </a:xfrm>
          <a:prstGeom prst="rect">
            <a:avLst/>
          </a:prstGeom>
        </p:spPr>
      </p:pic>
      <p:pic>
        <p:nvPicPr>
          <p:cNvPr id="4" name="Picture 3" descr="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840480"/>
            <a:ext cx="114300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推荐工具栈 (12维度 × 专业工具)</a:t>
            </a:r>
          </a:p>
        </p:txBody>
      </p:sp>
      <p:pic>
        <p:nvPicPr>
          <p:cNvPr id="3" name="Picture 2" descr="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1170432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5852160"/>
            <a:ext cx="530352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外观结构设计工具链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Fusion 360 / SolidWorks — 3D建模 &amp; 装配 | Keyshot — 产品渲染 | Rhino — 曲面造型 | AutoCAD — 2D工程图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5852160"/>
            <a:ext cx="5303520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市场调研 ↔ 外观设计 联动工具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问卷星 — 外观偏好调研 | Figma — 外观概念原型 | Miro — 用户场景拼贴板 | Pinterest — 设计灵感收集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落地路线图：12个月规划（含外观结构设计）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743200" cy="45720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Q1 (月1-3) | 打基础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完成竞品拆解(含ID/MD对标)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用户访谈(含外观偏好)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PRD+SRD+ID Brief完成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启动系统架构设计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88720"/>
            <a:ext cx="2743200" cy="457200"/>
          </a:xfrm>
          <a:prstGeom prst="roundRect">
            <a:avLst/>
          </a:prstGeom>
          <a:solidFill>
            <a:srgbClr val="E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Q2 (月4-6) | 定方案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★ 系统设计评审(SDR)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★ ID概念方案3选1→用户验证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★ 结构设计V1.0 + 3D打样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硬件原理图+PCB打样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188720"/>
            <a:ext cx="2743200" cy="4572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Q3 (月7-9) | 出原型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★ 外观手板确认+结构模具开发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原型机组装(含真实外壳)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精度标定+散热实测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Beta版交付5位种子用户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188720"/>
            <a:ext cx="2743200" cy="457200"/>
          </a:xfrm>
          <a:prstGeom prst="roundRect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Q4 (月10-12) | 推市场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828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众筹上线(外观是第一吸引力)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首批200台量产(含正式外壳)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GitHub开源仓库正式公开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200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Microsoft YaHei"/>
              </a:defRPr>
            </a:pPr>
            <a:r>
              <a:t>• 外观美图+视频+评测内容矩阵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10972800" cy="25603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5C518"/>
                </a:solidFill>
                <a:latin typeface="Microsoft YaHei"/>
              </a:defRPr>
            </a:pPr>
            <a:r>
              <a:t>执行铁律（12维度版）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① 原型先行: 任何功能先在原型上验证   ② 系统设计&amp;SDR不得跳过   ③ 外观方案必须经用户验证才定型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④ 文档即代码: 设计决策、接口协议、外观CMF、结构BOM全部入库   ⑤ 热设计从Day1开始仿真测试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⑥ 外观是第一传播力: 产品照片/视频先于功能参数打动用户，开模前必须确认外观手板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⑦ 开源是战略不是妥协: 社区贡献价值远超保留的设计秘密   ⑧ 留足余量: 功率/精度/结构强度三方面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维度联动关系：谁和谁互相影响？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56616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市场调研 ↔ 外观结构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用户外观偏好调研 → ID设计方向输入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外观概念 → 用户验证反馈 → 迭代定型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097280"/>
            <a:ext cx="356616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F9F43"/>
                </a:solidFill>
                <a:latin typeface="Microsoft YaHei"/>
              </a:defRPr>
            </a:pPr>
            <a:r>
              <a:t>外观结构 ↔ 系统设计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系统布局决定结构空间分配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结构约束(尺寸/散热)反馈给系统设计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097280"/>
            <a:ext cx="356616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00A8CC"/>
                </a:solidFill>
                <a:latin typeface="Microsoft YaHei"/>
              </a:defRPr>
            </a:pPr>
            <a:r>
              <a:t>外观结构 ↔ 硬件研发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PCB外形/安装孔/限高由结构决定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接口位置/天线布局由ID+结构决定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356616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1ABC9C"/>
                </a:solidFill>
                <a:latin typeface="Microsoft YaHei"/>
              </a:defRPr>
            </a:pPr>
            <a:r>
              <a:t>外观结构 ↔ 供应链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材料/工艺选择决定供应商类型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模具方案决定成本和量产可行性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657600"/>
            <a:ext cx="356616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F5C518"/>
                </a:solidFill>
                <a:latin typeface="Microsoft YaHei"/>
              </a:defRPr>
            </a:pPr>
            <a:r>
              <a:t>外观结构 ↔ 推广销售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外观是营销素材的第一要素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产品图的质感直接决定电商转化率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657600"/>
            <a:ext cx="356616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82880" tIns="182880"/>
          <a:lstStyle/>
          <a:p>
            <a:pPr algn="ctr">
              <a:defRPr sz="1600" b="1">
                <a:solidFill>
                  <a:srgbClr val="3498DB"/>
                </a:solidFill>
                <a:latin typeface="Microsoft YaHei"/>
              </a:defRPr>
            </a:pPr>
            <a:r>
              <a:t>外观结构 ↔ 客户成功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用户对ID/MD的满意度反馈</a:t>
            </a:r>
          </a:p>
          <a:p>
            <a:pPr>
              <a:spcAft>
                <a:spcPts val="4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下一代产品的外观改进方向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总结：12维度核心要点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143000"/>
            <a:ext cx="502920" cy="50292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市场调研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外观偏好</a:t>
            </a:r>
            <a:br/>
            <a:r>
              <a:t>纳入调研</a:t>
            </a:r>
          </a:p>
        </p:txBody>
      </p:sp>
      <p:sp>
        <p:nvSpPr>
          <p:cNvPr id="6" name="Oval 5"/>
          <p:cNvSpPr/>
          <p:nvPr/>
        </p:nvSpPr>
        <p:spPr>
          <a:xfrm>
            <a:off x="2697479" y="114300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59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产品定义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59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PRD+SRD</a:t>
            </a:r>
            <a:br/>
            <a:r>
              <a:t>+ID Brief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1143000"/>
            <a:ext cx="502920" cy="502920"/>
          </a:xfrm>
          <a:prstGeom prst="ellipse">
            <a:avLst/>
          </a:prstGeom>
          <a:solidFill>
            <a:srgbClr val="E0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系统设计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架构翻译层</a:t>
            </a:r>
            <a:br/>
            <a:r>
              <a:t>SDR评审</a:t>
            </a:r>
          </a:p>
        </p:txBody>
      </p:sp>
      <p:sp>
        <p:nvSpPr>
          <p:cNvPr id="12" name="Oval 11"/>
          <p:cNvSpPr/>
          <p:nvPr/>
        </p:nvSpPr>
        <p:spPr>
          <a:xfrm>
            <a:off x="6629399" y="1143000"/>
            <a:ext cx="502920" cy="5029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外观结构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ID+MD</a:t>
            </a:r>
            <a:br/>
            <a:r>
              <a:t>客户第一感观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0" y="1143000"/>
            <a:ext cx="502920" cy="502920"/>
          </a:xfrm>
          <a:prstGeom prst="ellipse">
            <a:avLst/>
          </a:prstGeom>
          <a:solidFill>
            <a:srgbClr val="00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硬件研发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原理图PCB</a:t>
            </a:r>
            <a:br/>
            <a:r>
              <a:t>热设计验证</a:t>
            </a:r>
          </a:p>
        </p:txBody>
      </p:sp>
      <p:sp>
        <p:nvSpPr>
          <p:cNvPr id="18" name="Oval 17"/>
          <p:cNvSpPr/>
          <p:nvPr/>
        </p:nvSpPr>
        <p:spPr>
          <a:xfrm>
            <a:off x="10561320" y="1143000"/>
            <a:ext cx="502920" cy="50292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软件研发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1463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固件+App</a:t>
            </a:r>
            <a:br/>
            <a:r>
              <a:t>面板UI+云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rgbClr val="16C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测试验证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23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功能/精度</a:t>
            </a:r>
            <a:br/>
            <a:r>
              <a:t>结构/可靠性</a:t>
            </a:r>
          </a:p>
        </p:txBody>
      </p:sp>
      <p:sp>
        <p:nvSpPr>
          <p:cNvPr id="24" name="Oval 23"/>
          <p:cNvSpPr/>
          <p:nvPr/>
        </p:nvSpPr>
        <p:spPr>
          <a:xfrm>
            <a:off x="2697479" y="3703320"/>
            <a:ext cx="502920" cy="50292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59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供应链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59" y="4023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PCB+结构件</a:t>
            </a:r>
            <a:br/>
            <a:r>
              <a:t>元器件采购</a:t>
            </a:r>
          </a:p>
        </p:txBody>
      </p:sp>
      <p:sp>
        <p:nvSpPr>
          <p:cNvPr id="27" name="Oval 26"/>
          <p:cNvSpPr/>
          <p:nvPr/>
        </p:nvSpPr>
        <p:spPr>
          <a:xfrm>
            <a:off x="4663440" y="3703320"/>
            <a:ext cx="502920" cy="5029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推广运营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023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内容+社区</a:t>
            </a:r>
            <a:br/>
            <a:r>
              <a:t>外观驱动传播</a:t>
            </a:r>
          </a:p>
        </p:txBody>
      </p:sp>
      <p:sp>
        <p:nvSpPr>
          <p:cNvPr id="30" name="Oval 29"/>
          <p:cNvSpPr/>
          <p:nvPr/>
        </p:nvSpPr>
        <p:spPr>
          <a:xfrm>
            <a:off x="6629399" y="370332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79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销售渠道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4023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电商+B2B</a:t>
            </a:r>
            <a:br/>
            <a:r>
              <a:t>外观决定转化</a:t>
            </a:r>
          </a:p>
        </p:txBody>
      </p:sp>
      <p:sp>
        <p:nvSpPr>
          <p:cNvPr id="33" name="Oval 32"/>
          <p:cNvSpPr/>
          <p:nvPr/>
        </p:nvSpPr>
        <p:spPr>
          <a:xfrm>
            <a:off x="8595360" y="3703320"/>
            <a:ext cx="502920" cy="5029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客户成功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023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反馈+OTA</a:t>
            </a:r>
            <a:br/>
            <a:r>
              <a:t>NPS+迭代</a:t>
            </a:r>
          </a:p>
        </p:txBody>
      </p:sp>
      <p:sp>
        <p:nvSpPr>
          <p:cNvPr id="36" name="Oval 35"/>
          <p:cNvSpPr/>
          <p:nvPr/>
        </p:nvSpPr>
        <p:spPr>
          <a:xfrm>
            <a:off x="10561320" y="3703320"/>
            <a:ext cx="502920" cy="5029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项目管理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4023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Microsoft YaHei"/>
              </a:defRPr>
            </a:pPr>
            <a:r>
              <a:t>贯穿12维度</a:t>
            </a:r>
            <a:br/>
            <a:r>
              <a:t>全局管控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C518"/>
                </a:solidFill>
                <a:latin typeface="Microsoft YaHei"/>
              </a:defRPr>
            </a:pPr>
            <a:r>
              <a:t>下一步：选择优先落地的维度 → PRD模板 / 系统设计模板 / 外观结构设计Brief / 项目管理看板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5760720"/>
            <a:ext cx="6675120" cy="2743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