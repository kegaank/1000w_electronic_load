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EL-1000 可编程直流电子负载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884"/>
                </a:solidFill>
              </a:defRPr>
            </a:pPr>
            <a:r>
              <a:t>详细技术方案评审  |  SYS-TECH-001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</a:defRPr>
            </a:pPr>
            <a:r>
              <a:t>1000W / 150V / 60A  |  CC/CV/CR/CW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</a:defRPr>
            </a:pPr>
            <a:r>
              <a:t>C2000 F28E12x + ESP32-S3  |  12×M90N20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</a:defRPr>
            </a:pPr>
            <a:r>
              <a:t>2026-06-01  |  W7 硬件研发阶段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目录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2743200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14个技术专题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2/20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</a:defRPr>
            </a:pPr>
            <a:r>
              <a:t>    01    产品概述 — 规格参数与定位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</a:defRPr>
            </a:pPr>
            <a:r>
              <a:t>    02    系统架构 — 整机框图与信号流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</a:defRPr>
            </a:pPr>
            <a:r>
              <a:t>    03    功率拓扑 — 12×M90N20 + 推挽驱动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</a:defRPr>
            </a:pPr>
            <a:r>
              <a:t>    04    控制架构 — C2000 + ESP32 双MCU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</a:defRPr>
            </a:pPr>
            <a:r>
              <a:t>    05    电源树 — AC→反激→Buck→LDO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</a:defRPr>
            </a:pPr>
            <a:r>
              <a:t>    06    安全架构 — 5道防护 + 3重切断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</a:defRPr>
            </a:pPr>
            <a:r>
              <a:t>    07    热设计 — 散热方案与温升计算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</a:defRPr>
            </a:pPr>
            <a:r>
              <a:t>    08    通信协议 — UART + SCPI + WebSocket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</a:defRPr>
            </a:pPr>
            <a:r>
              <a:t>    09    控制算法 — 级联PID + 抗饱和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</a:defRPr>
            </a:pPr>
            <a:r>
              <a:t>    10    固件架构 — FreeRTOS 任务与数据流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</a:defRPr>
            </a:pPr>
            <a:r>
              <a:t>    11    外观结构 — ITECH风格前面板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</a:defRPr>
            </a:pPr>
            <a:r>
              <a:t>    12    整机BOM — ¥1,354 完整成本分解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</a:defRPr>
            </a:pPr>
            <a:r>
              <a:t>    13    接口定义 — 电气/控制/固件接口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</a:defRPr>
            </a:pPr>
            <a:r>
              <a:t>    14    测试验证 — 3阶段原型验证方案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产品概述 — 关键规格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2743200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SRD v1.3 | 目标零售 ¥3,999–5,999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3/20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011680" cy="1371600"/>
          </a:xfrm>
          <a:prstGeom prst="round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1000 W</a:t>
            </a:r>
          </a:p>
          <a:p>
            <a:pPr algn="ctr"/>
            <a:r>
              <a:rPr sz="1100">
                <a:solidFill>
                  <a:srgbClr val="E0F5EE"/>
                </a:solidFill>
              </a:rPr>
              <a:t>额定功率
(峰值1200W)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2011680" cy="1371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150 V</a:t>
            </a:r>
          </a:p>
          <a:p>
            <a:pPr algn="ctr"/>
            <a:r>
              <a:rPr sz="1100">
                <a:solidFill>
                  <a:srgbClr val="E0F5EE"/>
                </a:solidFill>
              </a:rPr>
              <a:t>最大电压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2011680" cy="13716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60 A</a:t>
            </a:r>
          </a:p>
          <a:p>
            <a:pPr algn="ctr"/>
            <a:r>
              <a:rPr sz="1100">
                <a:solidFill>
                  <a:srgbClr val="E0F5EE"/>
                </a:solidFill>
              </a:rPr>
              <a:t>最大电流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371600"/>
            <a:ext cx="2011680" cy="1371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±0.1%</a:t>
            </a:r>
          </a:p>
          <a:p>
            <a:pPr algn="ctr"/>
            <a:r>
              <a:rPr sz="1100">
                <a:solidFill>
                  <a:srgbClr val="E0F5EE"/>
                </a:solidFill>
              </a:rPr>
              <a:t>电压精度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371600"/>
            <a:ext cx="2011680" cy="13716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¥1,354</a:t>
            </a:r>
          </a:p>
          <a:p>
            <a:pPr algn="ctr"/>
            <a:r>
              <a:rPr sz="1100">
                <a:solidFill>
                  <a:srgbClr val="E0F5EE"/>
                </a:solidFill>
              </a:rPr>
              <a:t>整机BOM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0972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A884"/>
                </a:solidFill>
              </a:rPr>
              <a:t>▸ </a:t>
            </a:r>
            <a:r>
              <a:rPr sz="1300" b="1">
                <a:solidFill>
                  <a:srgbClr val="2D2D2D"/>
                </a:solidFill>
              </a:rPr>
              <a:t>CC / CV / CR / CW</a:t>
            </a:r>
            <a:r>
              <a:rPr sz="1300">
                <a:solidFill>
                  <a:srgbClr val="666666"/>
                </a:solidFill>
              </a:rPr>
              <a:t> 四种工作模式，CR/CW 固件规划中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A884"/>
                </a:solidFill>
              </a:rPr>
              <a:t>▸ </a:t>
            </a:r>
            <a:r>
              <a:rPr sz="1300" b="1">
                <a:solidFill>
                  <a:srgbClr val="2D2D2D"/>
                </a:solidFill>
              </a:rPr>
              <a:t>C2000 F28E12x HRPWM</a:t>
            </a:r>
            <a:r>
              <a:rPr sz="1300">
                <a:solidFill>
                  <a:srgbClr val="666666"/>
                </a:solidFill>
              </a:rPr>
              <a:t> 150ps 分辨率，等效15.2bit DAC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A884"/>
                </a:solidFill>
              </a:rPr>
              <a:t>▸ </a:t>
            </a:r>
            <a:r>
              <a:rPr sz="1300" b="1">
                <a:solidFill>
                  <a:srgbClr val="2D2D2D"/>
                </a:solidFill>
              </a:rPr>
              <a:t>双MCU架构</a:t>
            </a:r>
            <a:r>
              <a:rPr sz="1300">
                <a:solidFill>
                  <a:srgbClr val="666666"/>
                </a:solidFill>
              </a:rPr>
              <a:t>：C2000 实时控制 + ESP32-S3 通信/UI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A884"/>
                </a:solidFill>
              </a:rPr>
              <a:t>▸ </a:t>
            </a:r>
            <a:r>
              <a:rPr sz="1300" b="1">
                <a:solidFill>
                  <a:srgbClr val="2D2D2D"/>
                </a:solidFill>
              </a:rPr>
              <a:t>12×M90N20 MOSFET</a:t>
            </a:r>
            <a:r>
              <a:rPr sz="1300">
                <a:solidFill>
                  <a:srgbClr val="666666"/>
                </a:solidFill>
              </a:rPr>
              <a:t> 并联，总电流能力 1080A &gt;&gt; 60A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A884"/>
                </a:solidFill>
              </a:rPr>
              <a:t>▸ </a:t>
            </a:r>
            <a:r>
              <a:rPr sz="1300" b="1">
                <a:solidFill>
                  <a:srgbClr val="2D2D2D"/>
                </a:solidFill>
              </a:rPr>
              <a:t>ITECH风格</a:t>
            </a:r>
            <a:r>
              <a:rPr sz="1300">
                <a:solidFill>
                  <a:srgbClr val="666666"/>
                </a:solidFill>
              </a:rPr>
              <a:t> 深灰RAL7021+青绿#00a884，4.3″ IPS彩屏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A884"/>
                </a:solidFill>
              </a:rPr>
              <a:t>▸ </a:t>
            </a:r>
            <a:r>
              <a:rPr sz="1300" b="1">
                <a:solidFill>
                  <a:srgbClr val="2D2D2D"/>
                </a:solidFill>
              </a:rPr>
              <a:t>5道安全防护</a:t>
            </a:r>
            <a:r>
              <a:rPr sz="1300">
                <a:solidFill>
                  <a:srgbClr val="666666"/>
                </a:solidFill>
              </a:rPr>
              <a:t>：CMPSS→TZ→栅极下拉→继电器→熔丝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D2D"/>
                </a:solidFill>
              </a:defRPr>
            </a:pPr>
            <a:r>
              <a:t>系统架构总图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整机框图 — 功率级/控制电路/电源树/安全防护/散热/I/O</a:t>
            </a:r>
          </a:p>
        </p:txBody>
      </p:sp>
      <p:pic>
        <p:nvPicPr>
          <p:cNvPr id="5" name="Picture 4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D2D"/>
                </a:solidFill>
              </a:defRPr>
            </a:pPr>
            <a:r>
              <a:t>功率拓扑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12×M90N20 + D882/B772推挽 + RS6332差分采样</a:t>
            </a:r>
          </a:p>
        </p:txBody>
      </p:sp>
      <p:pic>
        <p:nvPicPr>
          <p:cNvPr id="5" name="Picture 4" descr="02_power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D2D"/>
                </a:solidFill>
              </a:defRPr>
            </a:pPr>
            <a:r>
              <a:t>控制架构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C2000 F28E12x 实时域 + ESP32-S3 非实时域 双MCU分工</a:t>
            </a:r>
          </a:p>
        </p:txBody>
      </p:sp>
      <p:pic>
        <p:nvPicPr>
          <p:cNvPr id="5" name="Picture 4" descr="03_contro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D2D"/>
                </a:solidFill>
              </a:defRPr>
            </a:pPr>
            <a:r>
              <a:t>电源树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AC→EMI→UCC28C45反激(子板)→3×Buck→LDO阵列</a:t>
            </a:r>
          </a:p>
        </p:txBody>
      </p:sp>
      <p:pic>
        <p:nvPicPr>
          <p:cNvPr id="5" name="Picture 4" descr="04_power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D2D"/>
                </a:solidFill>
              </a:defRPr>
            </a:pPr>
            <a:r>
              <a:t>安全架构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5层防护体系 — 硬件CMPSS &lt;1µs 到 熔丝终极防线</a:t>
            </a:r>
          </a:p>
        </p:txBody>
      </p:sp>
      <p:pic>
        <p:nvPicPr>
          <p:cNvPr id="5" name="Picture 4" descr="05_safet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D2D"/>
                </a:solidFill>
              </a:defRPr>
            </a:pPr>
            <a:r>
              <a:t>BOM成本分布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整机¥1,354 — 功率级¥238/散热¥216/控制¥196/机箱¥175</a:t>
            </a:r>
          </a:p>
        </p:txBody>
      </p:sp>
      <p:pic>
        <p:nvPicPr>
          <p:cNvPr id="5" name="Picture 4" descr="06_bom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D2D"/>
                </a:solidFill>
              </a:defRPr>
            </a:pPr>
            <a:r>
              <a:t>前面板布局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ITECH风格 — 4.3″ IPS + 模式键 + 编码器 + 数字键盘 + 接线柱</a:t>
            </a:r>
          </a:p>
        </p:txBody>
      </p:sp>
      <p:pic>
        <p:nvPicPr>
          <p:cNvPr id="5" name="Picture 4" descr="07_fron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D2D"/>
                </a:solidFill>
              </a:defRPr>
            </a:pPr>
            <a:r>
              <a:t>PID控制环路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级联控制 — 外环V/P/R→内环电流PI→HRPWM→MOSFET</a:t>
            </a:r>
          </a:p>
        </p:txBody>
      </p:sp>
      <p:pic>
        <p:nvPicPr>
          <p:cNvPr id="5" name="Picture 4" descr="08_pid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固件架构 — FreeRTOS 任务分配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2743200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C2000 (39 files) + ESP32-S3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12/20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2D2D"/>
                </a:solidFill>
              </a:defRPr>
            </a:pPr>
            <a:r>
              <a:t>固件架构 — FreeRTOS 任务分配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C2000 任务</a:t>
            </a:r>
            <a:r>
              <a:rPr sz="1400">
                <a:solidFill>
                  <a:srgbClr val="2D2D2D"/>
                </a:solidFill>
              </a:rPr>
              <a:t> (FreeRTOS, 860Hz实时):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PID Task (Pri=5, 860Hz) — PID运算 + HRPWM更新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Protection Task (Pri=4, 1kHz) — 软件OVP/OCP/OTP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Comm Task (Pri=3, 10ms) — UART帧协议处理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Housekeeping (Pri=2, 100ms) — ADC平均/状态LED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ESP32 任务</a:t>
            </a:r>
            <a:r>
              <a:rPr sz="1400">
                <a:solidFill>
                  <a:srgbClr val="2D2D2D"/>
                </a:solidFill>
              </a:rPr>
              <a:t> (FreeRTOS, 双核):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UART RX (Core0, Pri=10) — 字节接收+帧解析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WS Server (Core1, Pri=5) — WebSocket @10Hz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HTTP Server (Core1, Pri=4) — REST API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Display Tick (Core1, Pri=3) — LVGL @30Hz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Encoder Scan (Core0, Pri=2) — 编码器+按键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通信协议 — UART + SCPI + WebSocket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2743200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三通道并行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13/20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2D2D"/>
                </a:solidFill>
              </a:defRPr>
            </a:pPr>
            <a:r>
              <a:t>通信协议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UART帧协议</a:t>
            </a:r>
            <a:r>
              <a:rPr sz="1400">
                <a:solidFill>
                  <a:srgbClr val="2D2D2D"/>
                </a:solidFill>
              </a:rPr>
              <a:t> (C2000 ↔ ESP32, 921600 baud):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帧格式: [0xAA][0x55][LEN][CMD][PAYLOAD][CRC16]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15条命令: SET_MODE/SET_CURRENT/SET_VOLTAGE/GET_TELEM/...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遥测包28字节: V_load/I_load/P_load/Status/温度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SCPI命令集</a:t>
            </a:r>
            <a:r>
              <a:rPr sz="1400">
                <a:solidFill>
                  <a:srgbClr val="2D2D2D"/>
                </a:solidFill>
              </a:rPr>
              <a:t> (USB/Wi-Fi用户接口):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:SOURce:FUNCtion CC/CV/CR/CW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:SOURce:CURRent 0-60.00 / :SOURce:VOLTage 0-150.00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:MEASure:CURRent? / :MEASure:VOLTage?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WebSocket JSON</a:t>
            </a:r>
            <a:r>
              <a:rPr sz="1400">
                <a:solidFill>
                  <a:srgbClr val="2D2D2D"/>
                </a:solidFill>
              </a:rPr>
              <a:t> (实时Web UI):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{"cmd":"set_current","params":{"value":5.00,"unit":"A"}}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控制算法 — PID参数与仿真验证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2743200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级联PI + 抗饱和积分钳位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14/20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2D2D"/>
                </a:solidFill>
              </a:defRPr>
            </a:pPr>
            <a:r>
              <a:t>控制算法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电流环 (内环):</a:t>
            </a:r>
            <a:r>
              <a:rPr sz="14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Kp=0.5, Ki=10.0, Kd≈0, 输出0~0.95 duty, 更新率860Hz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仿真验证: 相位裕度109°, 闭环带宽112Hz, max_integral=0.95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电压环 (外环):</a:t>
            </a:r>
            <a:r>
              <a:rPr sz="14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Kp=0.2, Ki=2.0, Kd=0.0, 输出0~110A I_demand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带宽远低于电流环 (5:1~10:1), 确保级联稳定性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抗饱和策略:</a:t>
            </a:r>
            <a:r>
              <a:rPr sz="14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输出饱和+误差同向 → 冻结积分项 (积分钳位)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积分项单独限幅 ±max_integral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软启动:</a:t>
            </a:r>
            <a:r>
              <a:rPr sz="1400">
                <a:solidFill>
                  <a:srgbClr val="2D2D2D"/>
                </a:solidFill>
              </a:rPr>
              <a:t> 100步斜坡 (116ms), 每步target × (step/100)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采样:</a:t>
            </a:r>
            <a:r>
              <a:rPr sz="1400">
                <a:solidFill>
                  <a:srgbClr val="2D2D2D"/>
                </a:solidFill>
              </a:rPr>
              <a:t> ADC交错13通道, 等效1.72kHz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保护:</a:t>
            </a:r>
            <a:r>
              <a:rPr sz="1400">
                <a:solidFill>
                  <a:srgbClr val="2D2D2D"/>
                </a:solidFill>
              </a:rPr>
              <a:t> CMPSS硬件 &lt;1µs + 软件 @1kHz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热设计 — 铝挤散热 + 双120mm PWM风扇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2743200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θsa=0.06°C/W | Tj=103°C 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15/20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2D2D"/>
                </a:solidFill>
              </a:defRPr>
            </a:pPr>
            <a:r>
              <a:t>热设计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散热器:</a:t>
            </a:r>
            <a:r>
              <a:rPr sz="1400">
                <a:solidFill>
                  <a:srgbClr val="2D2D2D"/>
                </a:solidFill>
              </a:rPr>
              <a:t> 350×150×50mm 铝挤压型材, 强制风冷2.5m/s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绝缘垫:</a:t>
            </a:r>
            <a:r>
              <a:rPr sz="1400">
                <a:solidFill>
                  <a:srgbClr val="2D2D2D"/>
                </a:solidFill>
              </a:rPr>
              <a:t> AlN氮化铝 TO-247, θcs=0.4°C/W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风扇:</a:t>
            </a:r>
            <a:r>
              <a:rPr sz="1400">
                <a:solidFill>
                  <a:srgbClr val="2D2D2D"/>
                </a:solidFill>
              </a:rPr>
              <a:t> 双12038 PWM可调速, 12V供电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1000W满载温升计算:</a:t>
            </a:r>
            <a:r>
              <a:rPr sz="14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单管功耗: 1000W/12 = 83.3W (假设均匀)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Tj = 40 + 83.3×(0.3+0.4+0.06) = 103.3°C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M90N20 Tjmax=175°C → 降额59% ✅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风扇策略:</a:t>
            </a:r>
            <a:r>
              <a:rPr sz="14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&lt;45°C: 停转(静音) | 45-55°C: 20-40%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55-70°C: 40-80% | 70-85°C: 80-100%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&gt;85°C: 100% + 功率折返保护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整机BOM — 成本结构与降本路径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2743200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¥1,354 完整BOM | 毛利率66-77%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16/20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2D2D"/>
                </a:solidFill>
              </a:defRPr>
            </a:pPr>
            <a:r>
              <a:t>整机BOM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成本结构:</a:t>
            </a:r>
            <a:r>
              <a:rPr sz="1400">
                <a:solidFill>
                  <a:srgbClr val="2D2D2D"/>
                </a:solidFill>
              </a:rPr>
              <a:t> 功率级¥238(17.6%) 散热¥216(15.9%) 控制¥196(14.5%)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机箱¥175(12.9%) 组装¥130(9.6%) 电源树¥148(10.9%)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安全¥78(5.8%) PCB¥75(5.5%) 连接器¥51(3.8%) 包装配件¥47(3.5%)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毛利率:</a:t>
            </a:r>
            <a:r>
              <a:rPr sz="1400">
                <a:solidFill>
                  <a:srgbClr val="2D2D2D"/>
                </a:solidFill>
              </a:rPr>
              <a:t> BOM成本¥1,354 → 零售¥3,999-5,999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渠道价(60%零售): ¥2,399-3,599 → 渠道毛利率44-62%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考虑运营/售后/认证后: 整体毛利率40-55%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批量降本路径 (500台后 → ¥1,054):</a:t>
            </a:r>
            <a:r>
              <a:rPr sz="14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M90N20批量 ¥10→¥8 省¥24 | 机箱模具分摊 省¥85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散热器优化 省¥25 | PCB/SMT批量 省¥70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关键风险:</a:t>
            </a:r>
            <a:r>
              <a:rPr sz="1400">
                <a:solidFill>
                  <a:srgbClr val="2D2D2D"/>
                </a:solidFill>
              </a:rPr>
              <a:t> C2000交期8-12周需立即下单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DAC SGM71622R2价格待确认 (暂估¥15-25)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测试验证 — 3阶段原型方案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2743200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¥2,050 总预算 | W8-W18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17/20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2D2D"/>
                </a:solidFill>
              </a:defRPr>
            </a:pPr>
            <a:r>
              <a:t>测试验证方案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Phase 1 — 原型验证 (W8-W10, ¥550):</a:t>
            </a:r>
            <a:r>
              <a:rPr sz="14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C2000 LaunchPad + 单管M90N20 + 面包板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验证: PID闭环/HRPWM/ADC/CMPSS/UART协议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Phase 2 — 子卡验证 (W11-W14, ¥1,000):</a:t>
            </a:r>
            <a:r>
              <a:rPr sz="14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控制板+功率子板, 12管M90N20满功率测试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验证: 热管理/电流均流/EMI预扫/保护触发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Phase 3 — 整机验证 (W15-W18, ¥500):</a:t>
            </a:r>
            <a:r>
              <a:rPr sz="14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完整样机, 含机箱/面板/风扇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验证: 满功率老化/安规预审/精度标定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安规认证策略:</a:t>
            </a:r>
            <a:r>
              <a:rPr sz="14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初期CE (LVD+EMC) ¥27-45k → 量产CE+FCC ¥88-155k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关键技术决策回顾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2743200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MTG-013 → MTG-016 关键变更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18/20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2D2D"/>
                </a:solidFill>
              </a:defRPr>
            </a:pPr>
            <a:r>
              <a:t>关键技术决策回顾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MOSFET 10管→12管:</a:t>
            </a:r>
            <a:r>
              <a:rPr sz="1400">
                <a:solidFill>
                  <a:srgbClr val="2D2D2D"/>
                </a:solidFill>
              </a:rPr>
              <a:t> 均流余量 + 热分布优化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LM358→RS6332:</a:t>
            </a:r>
            <a:r>
              <a:rPr sz="1400">
                <a:solidFill>
                  <a:srgbClr val="2D2D2D"/>
                </a:solidFill>
              </a:rPr>
              <a:t> Vos 2mV→0.8mV, 精度从±2.5%→±0.6%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OPA548→LM358+D882/B772:</a:t>
            </a:r>
            <a:r>
              <a:rPr sz="1400">
                <a:solidFill>
                  <a:srgbClr val="2D2D2D"/>
                </a:solidFill>
              </a:rPr>
              <a:t> ¥30→¥1.84 成本降低94%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STM32→C2000 F28E12x:</a:t>
            </a:r>
            <a:r>
              <a:rPr sz="1400">
                <a:solidFill>
                  <a:srgbClr val="2D2D2D"/>
                </a:solidFill>
              </a:rPr>
              <a:t> HRPWM 150ps 实时控制必需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独立反激UCC28C45:</a:t>
            </a:r>
            <a:r>
              <a:rPr sz="1400">
                <a:solidFill>
                  <a:srgbClr val="2D2D2D"/>
                </a:solidFill>
              </a:rPr>
              <a:t> 释放HRPWM全部用于栅极驱动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GP8101方案候选:</a:t>
            </a:r>
            <a:r>
              <a:rPr sz="1400">
                <a:solidFill>
                  <a:srgbClr val="2D2D2D"/>
                </a:solidFill>
              </a:rPr>
              <a:t> ¥2.5 PWM→模拟, SOP-8, 免RC滤波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ADS1115(I2C)→C2000内置ADC:</a:t>
            </a:r>
            <a:r>
              <a:rPr sz="1400">
                <a:solidFill>
                  <a:srgbClr val="2D2D2D"/>
                </a:solidFill>
              </a:rPr>
              <a:t> 减少IC数量, 12bit够用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SGM71622R2待确认 vs GP8101:</a:t>
            </a:r>
            <a:r>
              <a:rPr sz="1400">
                <a:solidFill>
                  <a:srgbClr val="2D2D2D"/>
                </a:solidFill>
              </a:rPr>
              <a:t> 成本/精度权衡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下一阶段决策点:</a:t>
            </a:r>
            <a:r>
              <a:rPr sz="14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PCB Layout策略 (功率板/控制板/电源板分区)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GP8101验证 (HRPWM替代方案, ¥2.5)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C2000 F28E12x样品下单 (交期8-12周)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项目进度 — 当前W7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2743200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24周开发计划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19/20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2D2D"/>
                </a:solidFill>
              </a:defRPr>
            </a:pPr>
            <a:r>
              <a:t>项目进度 — 当前W7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已完成 (W1-W7):</a:t>
            </a:r>
            <a:r>
              <a:rPr sz="14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✅ 市场调研 + 产品定义 (SRD v1.3) — W1-W4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✅ 系统设计 (7个子模块全部闭环) — W5-W6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✅ 外观结构 (ITECH风格v3定稿) — W5-W6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✅ 详细技术方案 (SYS-TECH-001 v1.0) — W7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✅ KiCad原理图 (功率级/控制/电源树) — W7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✅ 固件骨架 (39个文件) — W7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✅ PID仿真验证 — W7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✅ 安规/供应链/BOM/原型策略文档 — W7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进行中 (W8-W14):</a:t>
            </a:r>
            <a:r>
              <a:rPr sz="14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🔄 原理图完善 (KiCad手动连线) — W8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⏳ PCB Layout启动 — W9-W11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⏳ 原型打样+焊接 — W12-W14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rPr sz="1400">
                <a:solidFill>
                  <a:srgbClr val="00A884"/>
                </a:solidFill>
              </a:rPr>
              <a:t>▸ </a:t>
            </a:r>
            <a:r>
              <a:rPr sz="1400" b="1">
                <a:solidFill>
                  <a:srgbClr val="2D2D2D"/>
                </a:solidFill>
              </a:rPr>
              <a:t>计划 (W15-W24):</a:t>
            </a:r>
            <a:r>
              <a:rPr sz="14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▸   调试/测试/认证 → 小批量试产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EL-1000 技术方案评审  |  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谢谢  |  下一阶段：PCB Layout</a:t>
            </a:r>
          </a:p>
          <a:p>
            <a:pPr>
              <a:spcBef>
                <a:spcPts val="1000"/>
              </a:spcBef>
              <a:defRPr sz="1600">
                <a:solidFill>
                  <a:srgbClr val="00A884"/>
                </a:solidFill>
              </a:defRPr>
            </a:pPr>
            <a:r>
              <a:t>EL-1000 1000W Programmable DC Electronic Load</a:t>
            </a:r>
          </a:p>
          <a:p>
            <a:pPr>
              <a:spcBef>
                <a:spcPts val="600"/>
              </a:spcBef>
              <a:defRPr sz="1400">
                <a:solidFill>
                  <a:srgbClr val="666666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