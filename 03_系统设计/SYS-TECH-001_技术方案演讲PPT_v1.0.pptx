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EL-1000 可编程直流电子负载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A884"/>
                </a:solidFill>
              </a:rPr>
              <a:t>详细技术方案评审  |  SYS-TECH-001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</a:rPr>
              <a:t>1000W / 150V / 60A  |  CC/CV/CR/CW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</a:rPr>
              <a:t>C2000 F28E12x + ESP32-S3  |  12×M90N20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</a:rPr>
              <a:t>2026-06-01  |  W7 硬件研发阶段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目录 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14个技术专题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2/20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01  产品概述 — 规格参数与定位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02  系统架构 — 整机框图与信号流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03  功率拓扑 — 12×M90N20 阵列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04  控制架构 — C2000+ESP32 双MCU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05  电源树 — AC→反激→Buck→LDO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06  安全架构 — 5道防护+3重切断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07  热设计 — 散热方案+温升计算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08  通信协议 — UART+SCPI+WS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09  控制算法 — 级联PID+抗饱和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10  固件架构 — FreeRTOS任务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11  外观结构 — ITECH风格面板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12  整机BOM — ¥1,354分解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13  接口定义 — 电气/固件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</a:rPr>
              <a:t>14  测试验证 — 3阶段方案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产品概述 — 关键规格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SRD v1.3 | 目标零售 ¥3,999–5,999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3/20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011680" cy="1280160"/>
          </a:xfrm>
          <a:prstGeom prst="round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1000W</a:t>
            </a:r>
          </a:p>
          <a:p>
            <a:pPr algn="ctr"/>
            <a:r>
              <a:rPr sz="1100" b="0">
                <a:solidFill>
                  <a:srgbClr val="E0F5EE"/>
                </a:solidFill>
              </a:rPr>
              <a:t>额定功率
(峰值1200W)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011680" cy="12801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150V</a:t>
            </a:r>
          </a:p>
          <a:p>
            <a:pPr algn="ctr"/>
            <a:r>
              <a:rPr sz="1100" b="0">
                <a:solidFill>
                  <a:srgbClr val="E0F5EE"/>
                </a:solidFill>
              </a:rPr>
              <a:t>最大电压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011680" cy="12801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60A</a:t>
            </a:r>
          </a:p>
          <a:p>
            <a:pPr algn="ctr"/>
            <a:r>
              <a:rPr sz="1100" b="0">
                <a:solidFill>
                  <a:srgbClr val="E0F5EE"/>
                </a:solidFill>
              </a:rPr>
              <a:t>最大电流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2011680" cy="12801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±0.1%</a:t>
            </a:r>
          </a:p>
          <a:p>
            <a:pPr algn="ctr"/>
            <a:r>
              <a:rPr sz="1100" b="0">
                <a:solidFill>
                  <a:srgbClr val="E0F5EE"/>
                </a:solidFill>
              </a:rPr>
              <a:t>电压精度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371600"/>
            <a:ext cx="2011680" cy="1280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¥1,354</a:t>
            </a:r>
          </a:p>
          <a:p>
            <a:pPr algn="ctr"/>
            <a:r>
              <a:rPr sz="1100" b="0">
                <a:solidFill>
                  <a:srgbClr val="E0F5EE"/>
                </a:solidFill>
              </a:rPr>
              <a:t>整机BOM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CC/CV/CR/CW</a:t>
            </a:r>
            <a:r>
              <a:rPr sz="1300" b="0">
                <a:solidFill>
                  <a:srgbClr val="2D2D2D"/>
                </a:solidFill>
              </a:rPr>
              <a:t> 四种工作模式，CR/CW固件规划中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C2000 F28E12x HRPWM</a:t>
            </a:r>
            <a:r>
              <a:rPr sz="1300" b="0">
                <a:solidFill>
                  <a:srgbClr val="2D2D2D"/>
                </a:solidFill>
              </a:rPr>
              <a:t> 150ps分辨率，等效15.2bit DAC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双MCU架构</a:t>
            </a:r>
            <a:r>
              <a:rPr sz="1300" b="0">
                <a:solidFill>
                  <a:srgbClr val="2D2D2D"/>
                </a:solidFill>
              </a:rPr>
              <a:t> C2000实时控制 + ESP32-S3通信/UI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12×M90N20 MOSFET</a:t>
            </a:r>
            <a:r>
              <a:rPr sz="1300" b="0">
                <a:solidFill>
                  <a:srgbClr val="2D2D2D"/>
                </a:solidFill>
              </a:rPr>
              <a:t> 并联，总电流能力1080A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ITECH风格</a:t>
            </a:r>
            <a:r>
              <a:rPr sz="1300" b="0">
                <a:solidFill>
                  <a:srgbClr val="2D2D2D"/>
                </a:solidFill>
              </a:rPr>
              <a:t> 深灰RAL7021+青绿#00a884，4.3" IPS彩屏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5道安全防护</a:t>
            </a:r>
            <a:r>
              <a:rPr sz="1300" b="0">
                <a:solidFill>
                  <a:srgbClr val="2D2D2D"/>
                </a:solidFill>
              </a:rPr>
              <a:t> CMPSS→TZ→栅极下拉→继电器→熔丝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系统架构总图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整机框图 — 功率级/控制/电源树/安全/I/O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4/20</a:t>
            </a:r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功率拓扑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12×M90N20 + D882/B772推挽 + RS6332差分采样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5/20</a:t>
            </a:r>
          </a:p>
        </p:txBody>
      </p:sp>
      <p:pic>
        <p:nvPicPr>
          <p:cNvPr id="7" name="Picture 6" descr="02_powe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控制架构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C2000 实时域 + ESP32 非实时域 双MCU分工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6/20</a:t>
            </a:r>
          </a:p>
        </p:txBody>
      </p:sp>
      <p:pic>
        <p:nvPicPr>
          <p:cNvPr id="7" name="Picture 6" descr="03_contro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电源树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AC→EMI→UCC28C45反激(子板)→3×Buck→LDO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7/20</a:t>
            </a:r>
          </a:p>
        </p:txBody>
      </p:sp>
      <p:pic>
        <p:nvPicPr>
          <p:cNvPr id="7" name="Picture 6" descr="04_power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安全架构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5层防护 — 硬件CMPSS&lt;1µs到熔丝终极防线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8/20</a:t>
            </a:r>
          </a:p>
        </p:txBody>
      </p:sp>
      <p:pic>
        <p:nvPicPr>
          <p:cNvPr id="7" name="Picture 6" descr="05_safet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BOM成本分布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整机¥1,354 — 功率级/散热/控制/机箱占比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9/20</a:t>
            </a:r>
          </a:p>
        </p:txBody>
      </p:sp>
      <p:pic>
        <p:nvPicPr>
          <p:cNvPr id="7" name="Picture 6" descr="06_bom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前面板布局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ITECH风格 — 4.3" IPS + 模式键 + 编码器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10/20</a:t>
            </a:r>
          </a:p>
        </p:txBody>
      </p:sp>
      <p:pic>
        <p:nvPicPr>
          <p:cNvPr id="7" name="Picture 6" descr="07_fron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PID控制环路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</a:rPr>
              <a:t>级联控制 — 外环V/P/R → 内环电流PI → HRPWM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11/20</a:t>
            </a:r>
          </a:p>
        </p:txBody>
      </p:sp>
      <p:pic>
        <p:nvPicPr>
          <p:cNvPr id="7" name="Picture 6" descr="08_pid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固件架构 — FreeRTOS 任务分配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200" b="1">
                <a:solidFill>
                  <a:srgbClr val="2D2D2D"/>
                </a:solidFill>
              </a:rPr>
              <a:t>C2000 任务</a:t>
            </a:r>
            <a:r>
              <a:rPr sz="1200" b="0">
                <a:solidFill>
                  <a:srgbClr val="2D2D2D"/>
                </a:solidFill>
              </a:rPr>
              <a:t> (FreeRTOS实时内核):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PID Task (Pri=5, 860Hz)  PID运算+HRPWM更新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Protection (Pri=4, 1kHz)  软件OVP/OCP/OTP检查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Comm Task (Pri=3, 10ms)  UART帧协议处理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Housekeeping (Pri=2, 100ms)  ADC平均/状态LED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200" b="1">
                <a:solidFill>
                  <a:srgbClr val="2D2D2D"/>
                </a:solidFill>
              </a:rPr>
              <a:t>ESP32 任务</a:t>
            </a:r>
            <a:r>
              <a:rPr sz="1200" b="0">
                <a:solidFill>
                  <a:srgbClr val="2D2D2D"/>
                </a:solidFill>
              </a:rPr>
              <a:t> (FreeRTOS双核):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UART RX (Core0, Pri=10)  字节接收+帧解析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WS Server (Core1, Pri=5)  WebSocket广播@10Hz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HTTP Server (Core1, Pri=4)  REST API处理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Display Tick (Core1, Pri=3)  LVGL刷新@30Hz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Encoder Scan (Core0, Pri=2)  编码器+按键扫描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通信协议 — UART + SCPI + WebSocket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200" b="1">
                <a:solidFill>
                  <a:srgbClr val="2D2D2D"/>
                </a:solidFill>
              </a:rPr>
              <a:t>UART帧协议</a:t>
            </a:r>
            <a:r>
              <a:rPr sz="1200" b="0">
                <a:solidFill>
                  <a:srgbClr val="2D2D2D"/>
                </a:solidFill>
              </a:rPr>
              <a:t> (C2000↔ESP32, 921600 baud):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帧: [0xAA][0x55][LEN][CMD][PAYLOAD][CRC16]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15条命令: SET_MODE/SET_CURRENT/GET_TELEM等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遥测包28B: V_load/I_load/P_load/Status/温度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200" b="1">
                <a:solidFill>
                  <a:srgbClr val="2D2D2D"/>
                </a:solidFill>
              </a:rPr>
              <a:t>SCPI命令集</a:t>
            </a:r>
            <a:r>
              <a:rPr sz="1200" b="0">
                <a:solidFill>
                  <a:srgbClr val="2D2D2D"/>
                </a:solidFill>
              </a:rPr>
              <a:t> (USB/Wi-Fi用户接口):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:SOURce:FUNCtion CC/CV/CR/CW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:SOURce:CURRent 0-60.00 / :SOURce:VOLTage 0-150.00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:MEASure:CURRent? / :MEASure:VOLTage?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200" b="1">
                <a:solidFill>
                  <a:srgbClr val="2D2D2D"/>
                </a:solidFill>
              </a:rPr>
              <a:t>WebSocket JSON</a:t>
            </a:r>
            <a:r>
              <a:rPr sz="1200" b="0">
                <a:solidFill>
                  <a:srgbClr val="2D2D2D"/>
                </a:solidFill>
              </a:rPr>
              <a:t> (实时Web UI):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</a:rPr>
              <a:t>▸    {"cmd":"set_current","params":{"value":5.00,"unit":"A"}}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控制算法 — PID参数与仿真验证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电流环 (内环):</a:t>
            </a:r>
            <a:r>
              <a:rPr sz="1300" b="0">
                <a:solidFill>
                  <a:srgbClr val="2D2D2D"/>
                </a:solidFill>
              </a:rPr>
              <a:t>  Kp=0.5, Ki=10.0, Kd≈0, 输出0~0.95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仿真验证: 相位裕度109°, 闭环带宽112Hz, max_integral=0.95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电压环 (外环):</a:t>
            </a:r>
            <a:r>
              <a:rPr sz="1300" b="0">
                <a:solidFill>
                  <a:srgbClr val="2D2D2D"/>
                </a:solidFill>
              </a:rPr>
              <a:t>  Kp=0.2, Ki=2.0, Kd=0.0, 输出0~110A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带宽 &lt;&lt; 电流环 (5:1~10:1), 级联稳定性保证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抗饱和:</a:t>
            </a:r>
            <a:r>
              <a:rPr sz="1300" b="0">
                <a:solidFill>
                  <a:srgbClr val="2D2D2D"/>
                </a:solidFill>
              </a:rPr>
              <a:t> 输出饱和+误差同向→冻结积分; 积分单独限幅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软启动:</a:t>
            </a:r>
            <a:r>
              <a:rPr sz="1300" b="0">
                <a:solidFill>
                  <a:srgbClr val="2D2D2D"/>
                </a:solidFill>
              </a:rPr>
              <a:t> 100步斜坡 (116ms), 每步 target × (step/100)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采样:</a:t>
            </a:r>
            <a:r>
              <a:rPr sz="1300" b="0">
                <a:solidFill>
                  <a:srgbClr val="2D2D2D"/>
                </a:solidFill>
              </a:rPr>
              <a:t> ADC交错13通道, 等效1.72kHz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CMPSS硬件保护</a:t>
            </a:r>
            <a:r>
              <a:rPr sz="1300" b="0">
                <a:solidFill>
                  <a:srgbClr val="2D2D2D"/>
                </a:solidFill>
              </a:rPr>
              <a:t> &lt;1µs + 软件保护 @1kHz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热设计 — 铝挤散热 + 双120mm PWM风扇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散热器:</a:t>
            </a:r>
            <a:r>
              <a:rPr sz="1300" b="0">
                <a:solidFill>
                  <a:srgbClr val="2D2D2D"/>
                </a:solidFill>
              </a:rPr>
              <a:t> 350×150×50mm 铝挤压, 风冷2.5m/s, θsa=0.06°C/W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绝缘垫:</a:t>
            </a:r>
            <a:r>
              <a:rPr sz="1300" b="0">
                <a:solidFill>
                  <a:srgbClr val="2D2D2D"/>
                </a:solidFill>
              </a:rPr>
              <a:t> AlN氮化铝TO-247, θcs=0.4°C/W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风扇:</a:t>
            </a:r>
            <a:r>
              <a:rPr sz="1300" b="0">
                <a:solidFill>
                  <a:srgbClr val="2D2D2D"/>
                </a:solidFill>
              </a:rPr>
              <a:t> 双12038 PWM调速, 12V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1000W满载温升: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单管83.3W, Tj=40+83.3×(0.3+0.4+0.06)=103.3°C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M90N20 Tjmax=175°C → 降额59%  ✅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风扇策略: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&lt;45°C: 停转(静音) | 45-55°C: 20-40%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55-70°C: 40-80% | 70-85°C: 80-100%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&gt;85°C: 100% + 功率折返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整机BOM — 成本结构与降本路径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成本结构 (¥1,354):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功率级¥238(17.6%)  散热¥216(15.9%)  控制¥196(14.5%)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机箱¥175(12.9%)  组装¥130(9.6%)  电源树¥148(10.9%)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安全¥78  PCB¥75  连接器¥51  包装配件¥47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毛利率:</a:t>
            </a:r>
            <a:r>
              <a:rPr sz="1300" b="0">
                <a:solidFill>
                  <a:srgbClr val="2D2D2D"/>
                </a:solidFill>
              </a:rPr>
              <a:t> BOM¥1,354 → 零售¥3,999-5,999 → 66-77%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渠道价¥2,399-3,599 → 渠道毛利率44-62%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含费用后整体毛利率40-55%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批量降本 (500台 → ¥1,054):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M90N20 ¥10→¥8(省¥24)  机箱模具分摊(省¥85)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散热器优化(省¥25)  PCB/SMT批量(省¥70)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风险:</a:t>
            </a:r>
            <a:r>
              <a:rPr sz="1300" b="0">
                <a:solidFill>
                  <a:srgbClr val="2D2D2D"/>
                </a:solidFill>
              </a:rPr>
              <a:t> C2000交期8-12周需立即下单; DAC待确认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测试验证 — 3阶段原型方案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Phase 1 — 原型验证 (W8-W10, ¥550):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C2000 LaunchPad + 单管M90N20 + 面包板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验证PID闭环/HRPWM/ADC/CMPSS/UART协议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Phase 2 — 子卡验证 (W11-W14, ¥1,000):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控制板+功率子板, 12管满功率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验证热管理/均流/EMI预扫/保护触发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Phase 3 — 整机验证 (W15-W18, ¥500):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完整样机含机箱/面板/风扇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满功率老化/安规预审/精度标定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安规:</a:t>
            </a:r>
            <a:r>
              <a:rPr sz="1300" b="0">
                <a:solidFill>
                  <a:srgbClr val="2D2D2D"/>
                </a:solidFill>
              </a:rPr>
              <a:t> 初期CE(LVD+EMC) ¥27-45k → 量产CE+FCC ¥88-155k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关键技术决策回顾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MOSFET 10管→12管:</a:t>
            </a:r>
            <a:r>
              <a:rPr sz="1300" b="0">
                <a:solidFill>
                  <a:srgbClr val="2D2D2D"/>
                </a:solidFill>
              </a:rPr>
              <a:t> 均流余量+热分布优化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LM358→RS6332:</a:t>
            </a:r>
            <a:r>
              <a:rPr sz="1300" b="0">
                <a:solidFill>
                  <a:srgbClr val="2D2D2D"/>
                </a:solidFill>
              </a:rPr>
              <a:t> Vos 2mV→0.8mV, 精度±2.5%→±0.6%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OPA548→LM358+D882/B772:</a:t>
            </a:r>
            <a:r>
              <a:rPr sz="1300" b="0">
                <a:solidFill>
                  <a:srgbClr val="2D2D2D"/>
                </a:solidFill>
              </a:rPr>
              <a:t> ¥30→¥1.84, 成本降94%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STM32→C2000 F28E12x:</a:t>
            </a:r>
            <a:r>
              <a:rPr sz="1300" b="0">
                <a:solidFill>
                  <a:srgbClr val="2D2D2D"/>
                </a:solidFill>
              </a:rPr>
              <a:t> HRPWM 150ps必需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独立反激UCC28C45:</a:t>
            </a:r>
            <a:r>
              <a:rPr sz="1300" b="0">
                <a:solidFill>
                  <a:srgbClr val="2D2D2D"/>
                </a:solidFill>
              </a:rPr>
              <a:t> 释放HRPWM全部用于栅极驱动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GP8101候选:</a:t>
            </a:r>
            <a:r>
              <a:rPr sz="1300" b="0">
                <a:solidFill>
                  <a:srgbClr val="2D2D2D"/>
                </a:solidFill>
              </a:rPr>
              <a:t> ¥2.5 PWM→模拟, SOP-8, 免RC滤波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ADS1115→C2000内置ADC:</a:t>
            </a:r>
            <a:r>
              <a:rPr sz="1300" b="0">
                <a:solidFill>
                  <a:srgbClr val="2D2D2D"/>
                </a:solidFill>
              </a:rPr>
              <a:t> 减少IC, 12bit够用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下一阶段: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PCB Layout策略 (功率/控制/电源板分区)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GP8101验证 (HRPWM替代方案, ¥2.5)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C2000 F28E12x样品下单 (交期8-12周)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D2D2D"/>
                </a:solidFill>
              </a:rPr>
              <a:t>项目进度 — 当前W7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Bef>
                <a:spcPts val="200"/>
              </a:spcBef>
              <a:defRPr sz="800">
                <a:solidFill>
                  <a:srgbClr val="FFFFFF"/>
                </a:solidFill>
              </a:defRPr>
            </a:pPr>
            <a:r>
              <a:t>EL-1000 技术方案评审  |  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已完成 (W1-W7):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市场调研+产品定义(SRD v1.3)  系统设计(7模块闭环)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外观结构(ITECH v3)  详细技术方案(SYS-TECH-001)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KiCad原理图(功率级/控制/电源树)  固件骨架(39文件)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PID仿真验证  安规/供应链/BOM/原型策略文档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进行中 (W8-W14):</a:t>
            </a:r>
            <a:r>
              <a:rPr sz="1300" b="0">
                <a:solidFill>
                  <a:srgbClr val="2D2D2D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原理图完善(KiCad手动连线, W8)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PCB Layout启动(W9-W11)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</a:rPr>
              <a:t>▸    原型打样+焊接(W12-W14)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A884"/>
                </a:solidFill>
              </a:rPr>
              <a:t>▸  </a:t>
            </a:r>
            <a:r>
              <a:rPr sz="1300" b="1">
                <a:solidFill>
                  <a:srgbClr val="2D2D2D"/>
                </a:solidFill>
              </a:rPr>
              <a:t>计划 (W15-W24):</a:t>
            </a:r>
            <a:r>
              <a:rPr sz="1300" b="0">
                <a:solidFill>
                  <a:srgbClr val="2D2D2D"/>
                </a:solidFill>
              </a:rPr>
              <a:t>  调试/测试/认证 → 小批量试产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谢谢  |  下一阶段：完善原理图 + PCB Layout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00A884"/>
                </a:solidFill>
              </a:rPr>
              <a:t>EL-1000  1000W Programmable DC Electronic Load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666666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