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1000W DC Electronic 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5C518"/>
                </a:solidFill>
                <a:latin typeface="Arial"/>
              </a:defRPr>
            </a:pPr>
            <a:r>
              <a:t>Market Analysis &amp; Product Opportunity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Arial"/>
              </a:defRPr>
            </a:pPr>
            <a:r>
              <a:t>May 2026  |  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27432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C79A"/>
                </a:solidFill>
                <a:latin typeface="Arial"/>
              </a:defRPr>
            </a:pPr>
            <a:r>
              <a:t>$4.0B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521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Arial"/>
              </a:defRPr>
            </a:pPr>
            <a:r>
              <a:t>2026 Global</a:t>
            </a:r>
            <a:br/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5303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C79A"/>
                </a:solidFill>
                <a:latin typeface="Arial"/>
              </a:defRPr>
            </a:pPr>
            <a:r>
              <a:t>7.5%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58521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Arial"/>
              </a:defRPr>
            </a:pPr>
            <a:r>
              <a:t>Annual</a:t>
            </a:r>
            <a:br/>
            <a:r>
              <a:t>Growth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5303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C79A"/>
                </a:solidFill>
                <a:latin typeface="Arial"/>
              </a:defRPr>
            </a:pPr>
            <a:r>
              <a:t>17%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58521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Arial"/>
              </a:defRPr>
            </a:pPr>
            <a:r>
              <a:t>1kW Segment</a:t>
            </a:r>
            <a:br/>
            <a:r>
              <a:t>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59" y="5303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C79A"/>
                </a:solidFill>
                <a:latin typeface="Arial"/>
              </a:defRPr>
            </a:pPr>
            <a:r>
              <a:t>$800-$2k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59" y="58521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Arial"/>
              </a:defRPr>
            </a:pPr>
            <a:r>
              <a:t>Target Price</a:t>
            </a:r>
            <a:br/>
            <a:r>
              <a:t>Range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Global DC Electronic Load Market Size &amp; Growth</a:t>
            </a:r>
          </a:p>
        </p:txBody>
      </p:sp>
      <p:pic>
        <p:nvPicPr>
          <p:cNvPr id="3" name="Picture 2" descr="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502920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C518"/>
                </a:solidFill>
                <a:latin typeface="Arial"/>
              </a:defRPr>
            </a:pPr>
            <a: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Market Size (2025): $3.75B → Growing to $5.38B by 2030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CAGR: 6-11% depending on report source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DC loads dominate; AC+DC combined market tops $4.7B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1000W sits at the sweet spot between benchtop and modular systems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Asia-Pacific accounts for ~48% of global revenue</a:t>
            </a:r>
          </a:p>
        </p:txBody>
      </p:sp>
      <p:pic>
        <p:nvPicPr>
          <p:cNvPr id="6" name="Picture 5" descr="regi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389120"/>
            <a:ext cx="502920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Market Segmentation: By Power &amp; Application</a:t>
            </a:r>
          </a:p>
        </p:txBody>
      </p:sp>
      <p:pic>
        <p:nvPicPr>
          <p:cNvPr id="3" name="Picture 2" descr="power_se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3840480"/>
          </a:xfrm>
          <a:prstGeom prst="rect">
            <a:avLst/>
          </a:prstGeom>
        </p:spPr>
      </p:pic>
      <p:pic>
        <p:nvPicPr>
          <p:cNvPr id="4" name="Picture 3" descr="segmen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30352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120640"/>
            <a:ext cx="347472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Arial"/>
              </a:defRPr>
            </a:pPr>
            <a:r>
              <a:t>1000W Segment Characteristics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Falls into 1kW-10kW "modular" segment (35% share)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Also overlaps with mid-range 500W-1kW (17% share)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Ideal for server PSU, EV module, solar inverter testing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3-5x more applications than 500W-class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5120640"/>
            <a:ext cx="347472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Arial"/>
              </a:defRPr>
            </a:pPr>
            <a:r>
              <a:t>Top Applications for 1000W Loads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EV battery module testing (up to 96V / 30A)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Server PSU validation (1kW ATX / redundant PSU)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Solar micro-inverter &amp; charge controller testing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DC-DC converter efficiency measurement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5120640"/>
            <a:ext cx="347472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Arial"/>
              </a:defRPr>
            </a:pPr>
            <a:r>
              <a:t>Why 1000W &gt; 500W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Addressable market ~3x larger than 500W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Fewer DIY competitors (complexity jumps at 1kW+)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Higher ASP = better margins at same volume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Professional users have bigger budgets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Competitive Landscape: 1000W-Class DC Electronic Loads</a:t>
            </a:r>
          </a:p>
        </p:txBody>
      </p:sp>
      <p:pic>
        <p:nvPicPr>
          <p:cNvPr id="3" name="Picture 2" descr="compet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669280" cy="3200400"/>
          </a:xfrm>
          <a:prstGeom prst="rect">
            <a:avLst/>
          </a:prstGeom>
        </p:spPr>
      </p:pic>
      <p:pic>
        <p:nvPicPr>
          <p:cNvPr id="4" name="Picture 3" descr="product_sp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97280"/>
            <a:ext cx="5303520" cy="3200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4480560"/>
            <a:ext cx="347472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Arial"/>
              </a:defRPr>
            </a:pPr>
            <a:r>
              <a:t>Tier 1: Premium ($3,000-7,000)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Keysight, Chroma, Kikusui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Accuracy &lt;0.1%, extensive protocol support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Target: enterprise, defense, aerospace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Key weakness: terrible software UX, slow innovation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4480560"/>
            <a:ext cx="347472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Arial"/>
              </a:defRPr>
            </a:pPr>
            <a:r>
              <a:t>Tier 2: Mid-Market ($800-2,500)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ITECH (CN), BK Precision (US), Rigol (CN)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Good accuracy (0.1-0.5%), decent software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Target: R&amp;D labs, testing houses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ITECH dominates China / BK Precision dominates 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4480560"/>
            <a:ext cx="347472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Arial"/>
              </a:defRPr>
            </a:pPr>
            <a:r>
              <a:t>Tier 3 &amp; DIY ($30-1,200)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Maynuo, Array, unknown Taobao brands, Arduino+MOSFET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Low accuracy (&gt;0.5%), minimal protection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Target: makers, students, budget-constrained labs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Open-source community wants a serious 1kW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Growth Drivers &amp; Technology Trends</a:t>
            </a:r>
          </a:p>
        </p:txBody>
      </p:sp>
      <p:pic>
        <p:nvPicPr>
          <p:cNvPr id="3" name="Picture 2" descr="growth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486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C518"/>
                </a:solidFill>
                <a:latin typeface="Arial"/>
              </a:defRPr>
            </a:pPr>
            <a:r>
              <a:t>Market Growth Catalysts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73736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EV Battery Testing (CAGR 9.5%)</a:t>
            </a:r>
          </a:p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Global EV penetration rising from 18% to 35%+</a:t>
            </a:r>
          </a:p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Battery cell, module, and pack-level testing all need DC loads</a:t>
            </a:r>
          </a:p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Charging station compliance testing mandates grow</a:t>
            </a:r>
          </a:p>
          <a:p>
            <a:pPr>
              <a:spcAft>
                <a:spcPts val="800"/>
              </a:spcAft>
              <a:defRPr sz="8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Solar + Energy Storage (CAGR 8.2%)</a:t>
            </a:r>
          </a:p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Residential storage boom: 100 GWh new installs expected by 2030</a:t>
            </a:r>
          </a:p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Micro-inverter and hybrid inverter testing requires 1kW range</a:t>
            </a:r>
          </a:p>
          <a:p>
            <a:pPr>
              <a:spcAft>
                <a:spcPts val="800"/>
              </a:spcAft>
              <a:defRPr sz="8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5G Infrastructure (CAGR 7.8%)</a:t>
            </a:r>
          </a:p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5G base stations require 3x more power testing than 4G</a:t>
            </a:r>
          </a:p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Small-cell deployment driving volume demand</a:t>
            </a:r>
          </a:p>
          <a:p>
            <a:pPr>
              <a:spcAft>
                <a:spcPts val="800"/>
              </a:spcAft>
              <a:defRPr sz="8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Tech Trend: Smart + Connected Test Equipment</a:t>
            </a:r>
          </a:p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Wi-Fi / BLE / LAN remote control becoming expected</a:t>
            </a:r>
          </a:p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Cloud data logging and AI-driven test automation emerging</a:t>
            </a:r>
          </a:p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Software-defined test instruments - update via firmware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Target User Profile &amp; Addressable Market</a:t>
            </a:r>
          </a:p>
        </p:txBody>
      </p:sp>
      <p:pic>
        <p:nvPicPr>
          <p:cNvPr id="3" name="Picture 2" descr="user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400800" cy="38404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0" y="1188720"/>
            <a:ext cx="43891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Arial"/>
              </a:defRPr>
            </a:pPr>
            <a:r>
              <a:t>Primary: Power Supply Engineers (35k users)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Need: accurate, programmable, affordable 1kW load for PSU validation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Pain: Keysight budget rejected by management, ITECH not trusted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WTP: $1,500-3,500 | Total SAM: $80-120M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3017520"/>
            <a:ext cx="43891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Arial"/>
              </a:defRPr>
            </a:pPr>
            <a:r>
              <a:t>Secondary: EV/Battery Engineers (28k users)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Need: CC/CV/CP modes, battery discharge curves, data logging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Pain: Chroma too expensive for startup teams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WTP: $1,800-4,000 | Total SAM: $65-90M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4846320"/>
            <a:ext cx="43891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Arial"/>
              </a:defRPr>
            </a:pPr>
            <a:r>
              <a:t>Tertiary: Academic &amp; Maker (34k users)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Need: affordable multi-channel loads for student labs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Pain: current options either junk or unaffordable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WTP: $400-1,500 | Total SAM: $20-35M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Opportunity Gap Analysis: Where to Compete</a:t>
            </a:r>
          </a:p>
        </p:txBody>
      </p:sp>
      <p:pic>
        <p:nvPicPr>
          <p:cNvPr id="3" name="Picture 2" descr="opport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C518"/>
                </a:solidFill>
                <a:latin typeface="Arial"/>
              </a:defRPr>
            </a:pPr>
            <a:r>
              <a:t>Conclusion: The biggest competitive window is in "Software UX + Connectivity + Price" — not trying to beat Keysight on raw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Recommended Product Positioning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09728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Arial"/>
              </a:defRPr>
            </a:pPr>
            <a:r>
              <a:t>Positioning Statement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A 1000W programmable DC electronic load that delivers ITECH-grade accuracy at Maynuo-grade pricing,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with modern software (web UI, Wi-Fi, API-first) that makes Keysight s look 20 years old.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Target retail price: ¥3,999-5,999 (~$550-830) —  undercutting ITECH by 30-40% with better software.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457200" y="2926080"/>
            <a:ext cx="3474720" cy="2011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Arial"/>
              </a:defRPr>
            </a:pPr>
            <a:r>
              <a:t>Hardware Spec Target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Power: 1000W continuous (1200W peak)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Voltage: 0-150V DC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Current: 0-60A DC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Accuracy: 0.1% ± 0.05% FS (on par with ITECH)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Modes: CC / CV / CP / CR + Battery Test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Protection: OTP / OVP / OCP / OPP / Reverse Polarity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Interface: USB-C + Wi-Fi 6 + BLE 5.0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926080"/>
            <a:ext cx="3474720" cy="2011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Arial"/>
              </a:defRPr>
            </a:pPr>
            <a:r>
              <a:t>Software Differentiators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Web-based control panel (no install needed)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REST API + Python SDK for automation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Cloud data logging &amp; real-time dashboards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Firmware OTA updates via Wi-Fi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Multi-device synchronization (parallel loads)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Export data to CSV / JSON / Grafana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iOS / Android companion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926080"/>
            <a:ext cx="3474720" cy="2011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Arial"/>
              </a:defRPr>
            </a:pPr>
            <a:r>
              <a:t>Go-to-Market Strategy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Phase 1: Open-source hardware design to build community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Phase 2: Crowdfunding (Kickstarter / zeczc) pre-sales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Phase 3: Direct e-commerce + AliExpress / Amazon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Phase 4: Distributor partnerships for B2B channels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Target: ship 500 units in first 12 months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Break-even at ~200 units at $699 ASP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Community = free QA, content, and word-of-mouth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212080"/>
            <a:ext cx="109728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Arial"/>
              </a:defRPr>
            </a:pPr>
            <a:r>
              <a:t>Product Architecture Overview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MCU (STM32H7 / ESP32-S3) + FPGA (gate driver PWM) → MOSFET bank (8x IRFP250N parallel) → Active cooling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Isolated ADC (ADS1115) + shunt resistors → 16-bit current sensing → PID loop @ 10kHz → 0.1% accuracy target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Wi-Fi/BLE (ESP32-S3) + Web Server → REST API → Optional Cloud Sync → Companion App + CLI Tool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5-Year Financial Projection (Illustrative)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C518"/>
                </a:solidFill>
                <a:latin typeface="Arial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10312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C518"/>
                </a:solidFill>
                <a:latin typeface="Arial"/>
              </a:defRPr>
            </a:pPr>
            <a:r>
              <a:t>Year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C518"/>
                </a:solidFill>
                <a:latin typeface="Arial"/>
              </a:defRPr>
            </a:pPr>
            <a:r>
              <a:t>Year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C518"/>
                </a:solidFill>
                <a:latin typeface="Arial"/>
              </a:defRPr>
            </a:pPr>
            <a:r>
              <a:t>Year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C518"/>
                </a:solidFill>
                <a:latin typeface="Arial"/>
              </a:defRPr>
            </a:pPr>
            <a:r>
              <a:t>Year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C518"/>
                </a:solidFill>
                <a:latin typeface="Arial"/>
              </a:defRPr>
            </a:pPr>
            <a:r>
              <a:t>Year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Units Sold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1,200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2,500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5,000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23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Revenue (@$700 ASP)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$140K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$350K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$720K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$1.5M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$3.0M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017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COGS (@55% target)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$84K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$193K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$396K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$825K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$1.65M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611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Gross Margin (45%)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3611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C79A"/>
                </a:solidFill>
                <a:latin typeface="Arial"/>
              </a:defRPr>
            </a:pPr>
            <a:r>
              <a:t>$56K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3611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C79A"/>
                </a:solidFill>
                <a:latin typeface="Arial"/>
              </a:defRPr>
            </a:pPr>
            <a:r>
              <a:t>$157K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3611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C79A"/>
                </a:solidFill>
                <a:latin typeface="Arial"/>
              </a:defRPr>
            </a:pPr>
            <a:r>
              <a:t>$324K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611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C79A"/>
                </a:solidFill>
                <a:latin typeface="Arial"/>
              </a:defRPr>
            </a:pPr>
            <a:r>
              <a:t>$675K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611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C79A"/>
                </a:solidFill>
                <a:latin typeface="Arial"/>
              </a:defRPr>
            </a:pPr>
            <a:r>
              <a:t>$1.35M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389120"/>
            <a:ext cx="5029200" cy="2011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Arial"/>
              </a:defRPr>
            </a:pPr>
            <a:r>
              <a:t>Investment Required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Hardware R&amp;D (prototyping, PCB, BOM): $15,000-25,000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Software development (FW + web + app): $10,000-15,000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Certification (CE/FCC/3C): $5,000-10,000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Initial production run (200 units): $40,000-60,000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Total seed capital needed: ~$70,000-110,000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Break-even: ~200 units (within 12-18 months)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389120"/>
            <a:ext cx="5029200" cy="2011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400" b="1">
                <a:solidFill>
                  <a:srgbClr val="F5C518"/>
                </a:solidFill>
                <a:latin typeface="Arial"/>
              </a:defRPr>
            </a:pPr>
            <a:r>
              <a:t>ROI &amp; Exit Potential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Year 3 EBITDA: ~$250K (net after OpEx of ~$75K)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Valuation at Y3: 6-8x EBITDA = $1.5-2M (conservative)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Potential acquirers: ITECH, Rigol, Siglent (looking for SW talent)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Alternative: stay bootstrapped, 5-year cumulative margin &gt;$2.5M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Kickstarter target: $50K (500 backers × $100 avg pledge)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Arial"/>
              </a:defRPr>
            </a:pPr>
            <a:r>
              <a:t>China domestic market alone can support 5,000+ units/yr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Key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Arial"/>
              </a:defRPr>
            </a:pPr>
            <a:r>
              <a:t>1. Hardware Accuracy 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Arial"/>
              </a:defRPr>
            </a:pPr>
            <a:r>
              <a:t>Risk: failing to deliver 0.1% accuracy kills credibility.  Mitigation: partner with calibration lab during R&amp;D; publish third-party accuracy reports; be transparent about limitations.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Arial"/>
              </a:defRPr>
            </a:pPr>
            <a:r>
              <a:t>2. Thermal Management at 1kW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7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Arial"/>
              </a:defRPr>
            </a:pPr>
            <a:r>
              <a:t>Risk: 1000W of heat dissipation is non-trivial.  Mitigation: use actively cooled MOSFET bank with thermal feedback; over-engineer heatsink; auto-derating above 85C ambient.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3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Arial"/>
              </a:defRPr>
            </a:pPr>
            <a:r>
              <a:t>3. Supply Chain / BOM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5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Arial"/>
              </a:defRPr>
            </a:pPr>
            <a:r>
              <a:t>Risk: component costs make $699 ASP impossible.  Mitigation: use commodity MOSFETs (IRFP250N) in parallel; ESP32-S3 is $3; avoid exotic parts; design for manufacturability.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Arial"/>
              </a:defRPr>
            </a:pPr>
            <a:r>
              <a:t>4. ITECH/Maynuo Price War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Arial"/>
              </a:defRPr>
            </a:pPr>
            <a:r>
              <a:t>Risk: incumbents lower prices to crush you.  Mitigation: compete on software &amp; community, not just price; open-source creates stickiness; target niches they ignore (makers, startups).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Arial"/>
              </a:defRPr>
            </a:pPr>
            <a:r>
              <a:t>5. Safety &amp; 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Arial"/>
              </a:defRPr>
            </a:pPr>
            <a:r>
              <a:t>Risk: 1kW DC load is dangerous if misused.  Mitigation: multiple redundant protections (HW + SW); CE/FCC/3C certification; clear warning labels; liability insurance; open-source = shared responsibility.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Arial"/>
              </a:defRPr>
            </a:pPr>
            <a:r>
              <a:t>6. Copycats (especially in China)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15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Arial"/>
              </a:defRPr>
            </a:pPr>
            <a:r>
              <a:t>Risk: design gets cloned within 6 months.  Mitigation: open-source IS the strategy — build the brand and community; clones validate the market; keep moving faster; software moat.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Next Steps: From Analysis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C518"/>
                </a:solidFill>
                <a:latin typeface="Arial"/>
              </a:defRPr>
            </a:pPr>
            <a:r>
              <a:t>Phase 1: Deep Dive (Weeks 1-2)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Tear down 3 competitor products (IT8512+, M9713, 8602)</a:t>
            </a:r>
          </a:p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Benchmark accuracy, ripple, thermal performance</a:t>
            </a:r>
          </a:p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Interview 10 target users (engineers on Taobao, Zhihu, EEVblog)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8CC"/>
                </a:solidFill>
                <a:latin typeface="Arial"/>
              </a:defRPr>
            </a:pPr>
            <a:r>
              <a:t>Phase 2: Architecture Design (Weeks 3-4)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64592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Select MCU + MOSFET topology; run SPICE simulation</a:t>
            </a:r>
          </a:p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Draft schematics, BOM cost estimate, PCB outline</a:t>
            </a:r>
          </a:p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Write firmware architecture spec + web UI wireframes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C79A"/>
                </a:solidFill>
                <a:latin typeface="Arial"/>
              </a:defRPr>
            </a:pPr>
            <a:r>
              <a:t>Phase 3: Prototype (Weeks 5-8)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Build 2 prototype units; test to destruction</a:t>
            </a:r>
          </a:p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Iterate on thermal design; validate accuracy claims</a:t>
            </a:r>
          </a:p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Publish open-source repo with design files and docs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C518"/>
                </a:solidFill>
                <a:latin typeface="Arial"/>
              </a:defRPr>
            </a:pPr>
            <a:r>
              <a:t>Phase 4: Crowdfunding Prep (Weeks 9-12)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64592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Produce demo video with real-world testing scenarios</a:t>
            </a:r>
          </a:p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Set up supply chain for 200-unit production run</a:t>
            </a:r>
          </a:p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Launch Kickstarter / zeczc campaign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C518"/>
                </a:solidFill>
                <a:latin typeface="Arial"/>
              </a:defRPr>
            </a:pPr>
            <a:r>
              <a:t>Questions? Next discussion: Product spec definition &amp; architecture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4846320"/>
            <a:ext cx="5760720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5760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0A0"/>
                </a:solidFill>
                <a:latin typeface="Arial"/>
              </a:defRPr>
            </a:pPr>
            <a:r>
              <a:t>Thanks for reviewing. Let s build something that engineers actually want to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